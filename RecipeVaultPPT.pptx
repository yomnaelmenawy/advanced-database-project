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eckle Face" charset="1" panose="02000506000000020004"/>
      <p:regular r:id="rId19"/>
    </p:embeddedFont>
    <p:embeddedFont>
      <p:font typeface="Montserrat" charset="1" panose="00000500000000000000"/>
      <p:regular r:id="rId20"/>
    </p:embeddedFont>
    <p:embeddedFont>
      <p:font typeface="Montserrat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8272" y="5527478"/>
            <a:ext cx="5142294" cy="5142294"/>
          </a:xfrm>
          <a:custGeom>
            <a:avLst/>
            <a:gdLst/>
            <a:ahLst/>
            <a:cxnLst/>
            <a:rect r="r" b="b" t="t" l="l"/>
            <a:pathLst>
              <a:path h="5142294" w="5142294">
                <a:moveTo>
                  <a:pt x="0" y="0"/>
                </a:moveTo>
                <a:lnTo>
                  <a:pt x="5142294" y="0"/>
                </a:lnTo>
                <a:lnTo>
                  <a:pt x="5142294" y="5142294"/>
                </a:lnTo>
                <a:lnTo>
                  <a:pt x="0" y="5142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52431" y="-571908"/>
            <a:ext cx="5142294" cy="5142294"/>
          </a:xfrm>
          <a:custGeom>
            <a:avLst/>
            <a:gdLst/>
            <a:ahLst/>
            <a:cxnLst/>
            <a:rect r="r" b="b" t="t" l="l"/>
            <a:pathLst>
              <a:path h="5142294" w="5142294">
                <a:moveTo>
                  <a:pt x="5142293" y="5142294"/>
                </a:moveTo>
                <a:lnTo>
                  <a:pt x="0" y="5142294"/>
                </a:lnTo>
                <a:lnTo>
                  <a:pt x="0" y="0"/>
                </a:lnTo>
                <a:lnTo>
                  <a:pt x="5142293" y="0"/>
                </a:lnTo>
                <a:lnTo>
                  <a:pt x="5142293" y="5142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88668" y="-1157596"/>
            <a:ext cx="5343107" cy="5814557"/>
          </a:xfrm>
          <a:custGeom>
            <a:avLst/>
            <a:gdLst/>
            <a:ahLst/>
            <a:cxnLst/>
            <a:rect r="r" b="b" t="t" l="l"/>
            <a:pathLst>
              <a:path h="5814557" w="5343107">
                <a:moveTo>
                  <a:pt x="0" y="0"/>
                </a:moveTo>
                <a:lnTo>
                  <a:pt x="5343106" y="0"/>
                </a:lnTo>
                <a:lnTo>
                  <a:pt x="5343106" y="5814557"/>
                </a:lnTo>
                <a:lnTo>
                  <a:pt x="0" y="58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40317" y="3757637"/>
            <a:ext cx="13407366" cy="21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6"/>
              </a:lnSpc>
            </a:pPr>
            <a:r>
              <a:rPr lang="en-US" sz="16485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R</a:t>
            </a:r>
            <a:r>
              <a:rPr lang="en-US" sz="16485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ECIP</a:t>
            </a:r>
            <a:r>
              <a:rPr lang="en-US" sz="16485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EVAULT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822309" y="6927915"/>
            <a:ext cx="5300094" cy="4114800"/>
          </a:xfrm>
          <a:custGeom>
            <a:avLst/>
            <a:gdLst/>
            <a:ahLst/>
            <a:cxnLst/>
            <a:rect r="r" b="b" t="t" l="l"/>
            <a:pathLst>
              <a:path h="4114800" w="5300094">
                <a:moveTo>
                  <a:pt x="0" y="0"/>
                </a:moveTo>
                <a:lnTo>
                  <a:pt x="5300094" y="0"/>
                </a:lnTo>
                <a:lnTo>
                  <a:pt x="53000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3055" y="6078037"/>
            <a:ext cx="5343107" cy="5814557"/>
          </a:xfrm>
          <a:custGeom>
            <a:avLst/>
            <a:gdLst/>
            <a:ahLst/>
            <a:cxnLst/>
            <a:rect r="r" b="b" t="t" l="l"/>
            <a:pathLst>
              <a:path h="5814557" w="5343107">
                <a:moveTo>
                  <a:pt x="0" y="0"/>
                </a:moveTo>
                <a:lnTo>
                  <a:pt x="5343107" y="0"/>
                </a:lnTo>
                <a:lnTo>
                  <a:pt x="5343107" y="5814557"/>
                </a:lnTo>
                <a:lnTo>
                  <a:pt x="0" y="58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07838" y="6626779"/>
            <a:ext cx="3113540" cy="3730822"/>
          </a:xfrm>
          <a:custGeom>
            <a:avLst/>
            <a:gdLst/>
            <a:ahLst/>
            <a:cxnLst/>
            <a:rect r="r" b="b" t="t" l="l"/>
            <a:pathLst>
              <a:path h="3730822" w="3113540">
                <a:moveTo>
                  <a:pt x="0" y="0"/>
                </a:moveTo>
                <a:lnTo>
                  <a:pt x="3113540" y="0"/>
                </a:lnTo>
                <a:lnTo>
                  <a:pt x="3113540" y="3730822"/>
                </a:lnTo>
                <a:lnTo>
                  <a:pt x="0" y="3730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22309" y="390338"/>
            <a:ext cx="4157248" cy="4180048"/>
          </a:xfrm>
          <a:custGeom>
            <a:avLst/>
            <a:gdLst/>
            <a:ahLst/>
            <a:cxnLst/>
            <a:rect r="r" b="b" t="t" l="l"/>
            <a:pathLst>
              <a:path h="4180048" w="4157248">
                <a:moveTo>
                  <a:pt x="0" y="0"/>
                </a:moveTo>
                <a:lnTo>
                  <a:pt x="4157248" y="0"/>
                </a:lnTo>
                <a:lnTo>
                  <a:pt x="4157248" y="4180048"/>
                </a:lnTo>
                <a:lnTo>
                  <a:pt x="0" y="4180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93055" y="-878308"/>
            <a:ext cx="4472728" cy="3814017"/>
          </a:xfrm>
          <a:custGeom>
            <a:avLst/>
            <a:gdLst/>
            <a:ahLst/>
            <a:cxnLst/>
            <a:rect r="r" b="b" t="t" l="l"/>
            <a:pathLst>
              <a:path h="3814017" w="4472728">
                <a:moveTo>
                  <a:pt x="0" y="0"/>
                </a:moveTo>
                <a:lnTo>
                  <a:pt x="4472728" y="0"/>
                </a:lnTo>
                <a:lnTo>
                  <a:pt x="4472728" y="3814016"/>
                </a:lnTo>
                <a:lnTo>
                  <a:pt x="0" y="38140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07672" y="1028700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00657" y="8627696"/>
            <a:ext cx="664218" cy="715239"/>
          </a:xfrm>
          <a:custGeom>
            <a:avLst/>
            <a:gdLst/>
            <a:ahLst/>
            <a:cxnLst/>
            <a:rect r="r" b="b" t="t" l="l"/>
            <a:pathLst>
              <a:path h="715239" w="664218">
                <a:moveTo>
                  <a:pt x="0" y="0"/>
                </a:moveTo>
                <a:lnTo>
                  <a:pt x="664218" y="0"/>
                </a:lnTo>
                <a:lnTo>
                  <a:pt x="664218" y="715239"/>
                </a:lnTo>
                <a:lnTo>
                  <a:pt x="0" y="715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783174" y="5955704"/>
            <a:ext cx="10721653" cy="67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3954">
                <a:solidFill>
                  <a:srgbClr val="5188BF"/>
                </a:solidFill>
                <a:latin typeface="Freckle Face"/>
                <a:ea typeface="Freckle Face"/>
                <a:cs typeface="Freckle Face"/>
                <a:sym typeface="Freckle Face"/>
              </a:rPr>
              <a:t>A NOSQL-POWERED RECIPE MANAGEMENT SYSTEM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54438" y="2935708"/>
            <a:ext cx="664218" cy="715239"/>
          </a:xfrm>
          <a:custGeom>
            <a:avLst/>
            <a:gdLst/>
            <a:ahLst/>
            <a:cxnLst/>
            <a:rect r="r" b="b" t="t" l="l"/>
            <a:pathLst>
              <a:path h="715239" w="664218">
                <a:moveTo>
                  <a:pt x="0" y="0"/>
                </a:moveTo>
                <a:lnTo>
                  <a:pt x="664219" y="0"/>
                </a:lnTo>
                <a:lnTo>
                  <a:pt x="664219" y="715239"/>
                </a:lnTo>
                <a:lnTo>
                  <a:pt x="0" y="715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6995">
            <a:off x="-7026580" y="2143169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3807" y="1425557"/>
            <a:ext cx="8213644" cy="110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8"/>
              </a:lnSpc>
            </a:pPr>
            <a:r>
              <a:rPr lang="en-US" sz="8550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</a:t>
            </a:r>
            <a:r>
              <a:rPr lang="en-US" sz="8550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EAM MEMBERS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36754" y="791644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520899" y="334441"/>
            <a:ext cx="8838271" cy="9618118"/>
          </a:xfrm>
          <a:custGeom>
            <a:avLst/>
            <a:gdLst/>
            <a:ahLst/>
            <a:cxnLst/>
            <a:rect r="r" b="b" t="t" l="l"/>
            <a:pathLst>
              <a:path h="9618118" w="8838271">
                <a:moveTo>
                  <a:pt x="0" y="0"/>
                </a:moveTo>
                <a:lnTo>
                  <a:pt x="8838271" y="0"/>
                </a:lnTo>
                <a:lnTo>
                  <a:pt x="8838271" y="9618118"/>
                </a:lnTo>
                <a:lnTo>
                  <a:pt x="0" y="961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6594" y="3433170"/>
            <a:ext cx="454014" cy="488888"/>
          </a:xfrm>
          <a:custGeom>
            <a:avLst/>
            <a:gdLst/>
            <a:ahLst/>
            <a:cxnLst/>
            <a:rect r="r" b="b" t="t" l="l"/>
            <a:pathLst>
              <a:path h="488888" w="454014">
                <a:moveTo>
                  <a:pt x="0" y="0"/>
                </a:moveTo>
                <a:lnTo>
                  <a:pt x="454014" y="0"/>
                </a:lnTo>
                <a:lnTo>
                  <a:pt x="454014" y="488888"/>
                </a:lnTo>
                <a:lnTo>
                  <a:pt x="0" y="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507592" y="3433170"/>
            <a:ext cx="76437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Arwa mohey hamdy aboalia 23101371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7592" y="4828727"/>
            <a:ext cx="76437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Sondous Adel Metwalli           23101396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876594" y="4825614"/>
            <a:ext cx="454014" cy="488888"/>
          </a:xfrm>
          <a:custGeom>
            <a:avLst/>
            <a:gdLst/>
            <a:ahLst/>
            <a:cxnLst/>
            <a:rect r="r" b="b" t="t" l="l"/>
            <a:pathLst>
              <a:path h="488888" w="454014">
                <a:moveTo>
                  <a:pt x="0" y="0"/>
                </a:moveTo>
                <a:lnTo>
                  <a:pt x="454014" y="0"/>
                </a:lnTo>
                <a:lnTo>
                  <a:pt x="454014" y="488888"/>
                </a:lnTo>
                <a:lnTo>
                  <a:pt x="0" y="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876594" y="6234296"/>
            <a:ext cx="454014" cy="488888"/>
          </a:xfrm>
          <a:custGeom>
            <a:avLst/>
            <a:gdLst/>
            <a:ahLst/>
            <a:cxnLst/>
            <a:rect r="r" b="b" t="t" l="l"/>
            <a:pathLst>
              <a:path h="488888" w="454014">
                <a:moveTo>
                  <a:pt x="0" y="0"/>
                </a:moveTo>
                <a:lnTo>
                  <a:pt x="454014" y="0"/>
                </a:lnTo>
                <a:lnTo>
                  <a:pt x="454014" y="488888"/>
                </a:lnTo>
                <a:lnTo>
                  <a:pt x="0" y="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507592" y="6237409"/>
            <a:ext cx="76437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Yomna mohamed                    23101506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857" y="1615857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0965">
            <a:off x="14259655" y="6489129"/>
            <a:ext cx="3391970" cy="3145281"/>
          </a:xfrm>
          <a:custGeom>
            <a:avLst/>
            <a:gdLst/>
            <a:ahLst/>
            <a:cxnLst/>
            <a:rect r="r" b="b" t="t" l="l"/>
            <a:pathLst>
              <a:path h="3145281" w="3391970">
                <a:moveTo>
                  <a:pt x="0" y="0"/>
                </a:moveTo>
                <a:lnTo>
                  <a:pt x="3391970" y="0"/>
                </a:lnTo>
                <a:lnTo>
                  <a:pt x="3391970" y="3145281"/>
                </a:lnTo>
                <a:lnTo>
                  <a:pt x="0" y="3145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5183">
            <a:off x="14983060" y="2408039"/>
            <a:ext cx="2346668" cy="3414464"/>
          </a:xfrm>
          <a:custGeom>
            <a:avLst/>
            <a:gdLst/>
            <a:ahLst/>
            <a:cxnLst/>
            <a:rect r="r" b="b" t="t" l="l"/>
            <a:pathLst>
              <a:path h="3414464" w="2346668">
                <a:moveTo>
                  <a:pt x="0" y="0"/>
                </a:moveTo>
                <a:lnTo>
                  <a:pt x="2346668" y="0"/>
                </a:lnTo>
                <a:lnTo>
                  <a:pt x="2346668" y="3414463"/>
                </a:lnTo>
                <a:lnTo>
                  <a:pt x="0" y="3414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92728" y="1681502"/>
            <a:ext cx="11952477" cy="93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3"/>
              </a:lnSpc>
            </a:pPr>
            <a:r>
              <a:rPr lang="en-US" sz="72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THE NATURE </a:t>
            </a:r>
            <a:r>
              <a:rPr lang="en-US" sz="72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OF RECIPE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41604"/>
            <a:ext cx="94278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  <a:spcBef>
                <a:spcPct val="0"/>
              </a:spcBef>
            </a:pP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is a Recipe?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45205" y="2061509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6"/>
                </a:lnTo>
                <a:lnTo>
                  <a:pt x="0" y="88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3797699">
            <a:off x="-2944050" y="-6517420"/>
            <a:ext cx="8301762" cy="9034271"/>
          </a:xfrm>
          <a:custGeom>
            <a:avLst/>
            <a:gdLst/>
            <a:ahLst/>
            <a:cxnLst/>
            <a:rect r="r" b="b" t="t" l="l"/>
            <a:pathLst>
              <a:path h="9034271" w="8301762">
                <a:moveTo>
                  <a:pt x="0" y="0"/>
                </a:moveTo>
                <a:lnTo>
                  <a:pt x="8301762" y="0"/>
                </a:lnTo>
                <a:lnTo>
                  <a:pt x="8301762" y="9034270"/>
                </a:lnTo>
                <a:lnTo>
                  <a:pt x="0" y="9034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823543"/>
            <a:ext cx="13968803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  <a:spcBef>
                <a:spcPct val="0"/>
              </a:spcBef>
            </a:pPr>
            <a:r>
              <a:rPr lang="en-US" sz="37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is a self-contained</a:t>
            </a:r>
            <a:r>
              <a:rPr lang="en-US" sz="37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entity. A recipe includes basic info, a list of ingredients, and step-by-step instructions.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143500"/>
            <a:ext cx="360918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  <a:spcBef>
                <a:spcPct val="0"/>
              </a:spcBef>
            </a:pP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</a:t>
            </a: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Problem: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11289"/>
            <a:ext cx="360918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  <a:spcBef>
                <a:spcPct val="0"/>
              </a:spcBef>
            </a:pP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</a:t>
            </a:r>
            <a:r>
              <a:rPr lang="en-US" b="true" sz="371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Solution: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39714"/>
            <a:ext cx="1461681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7"/>
              </a:lnSpc>
              <a:spcBef>
                <a:spcPct val="0"/>
              </a:spcBef>
            </a:pPr>
            <a:r>
              <a:rPr lang="en-US" sz="36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Tradit</a:t>
            </a:r>
            <a:r>
              <a:rPr lang="en-US" sz="36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ional Relational Databases (SQL) force us to split this unified data into multiple separate tables.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30414"/>
            <a:ext cx="139688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Build "RecipeVault" using a NoSQL Document Store</a:t>
            </a:r>
            <a:r>
              <a:rPr lang="en-US" sz="36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(MongoDB) to keep recipe data together, exactly as it appears to the user.</a:t>
            </a:r>
          </a:p>
          <a:p>
            <a:pPr algn="l">
              <a:lnSpc>
                <a:spcPts val="43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5706" y="2268912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8176" y="6012063"/>
            <a:ext cx="7134716" cy="7764250"/>
          </a:xfrm>
          <a:custGeom>
            <a:avLst/>
            <a:gdLst/>
            <a:ahLst/>
            <a:cxnLst/>
            <a:rect r="r" b="b" t="t" l="l"/>
            <a:pathLst>
              <a:path h="7764250" w="7134716">
                <a:moveTo>
                  <a:pt x="0" y="0"/>
                </a:moveTo>
                <a:lnTo>
                  <a:pt x="7134716" y="0"/>
                </a:lnTo>
                <a:lnTo>
                  <a:pt x="7134716" y="7764250"/>
                </a:lnTo>
                <a:lnTo>
                  <a:pt x="0" y="7764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4535">
            <a:off x="15796678" y="6594817"/>
            <a:ext cx="2048823" cy="3577310"/>
          </a:xfrm>
          <a:custGeom>
            <a:avLst/>
            <a:gdLst/>
            <a:ahLst/>
            <a:cxnLst/>
            <a:rect r="r" b="b" t="t" l="l"/>
            <a:pathLst>
              <a:path h="3577310" w="2048823">
                <a:moveTo>
                  <a:pt x="0" y="0"/>
                </a:moveTo>
                <a:lnTo>
                  <a:pt x="2048823" y="0"/>
                </a:lnTo>
                <a:lnTo>
                  <a:pt x="2048823" y="3577311"/>
                </a:lnTo>
                <a:lnTo>
                  <a:pt x="0" y="3577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00639"/>
            <a:ext cx="13455448" cy="78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6083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SQL VS. NOSQL FOR REC</a:t>
            </a:r>
            <a:r>
              <a:rPr lang="en-US" sz="6083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IPE MA</a:t>
            </a:r>
            <a:r>
              <a:rPr lang="en-US" sz="6083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7116" y="2268912"/>
            <a:ext cx="14100390" cy="715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6"/>
              </a:lnSpc>
            </a:pPr>
            <a:r>
              <a:rPr lang="en-US" sz="3039" b="true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SQL Approach (Relational):</a:t>
            </a:r>
          </a:p>
          <a:p>
            <a:pPr algn="just" marL="634193" indent="-317097" lvl="1">
              <a:lnSpc>
                <a:spcPts val="3524"/>
              </a:lnSpc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Scattered Data: Requires 4 tables (Recipes, Ingredients, Steps, </a:t>
            </a: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Categories).</a:t>
            </a:r>
          </a:p>
          <a:p>
            <a:pPr algn="just" marL="634193" indent="-317097" lvl="1">
              <a:lnSpc>
                <a:spcPts val="3524"/>
              </a:lnSpc>
              <a:spcBef>
                <a:spcPct val="0"/>
              </a:spcBef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Slow Retrieval: Fetch</a:t>
            </a: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 ONE recipe requires 3 complex JOIN operations.</a:t>
            </a:r>
          </a:p>
          <a:p>
            <a:pPr algn="just" marL="634193" indent="-317097" lvl="1">
              <a:lnSpc>
                <a:spcPts val="3524"/>
              </a:lnSpc>
              <a:spcBef>
                <a:spcPct val="0"/>
              </a:spcBef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Rigid Schema: Adding a new optional field (e.g., "Video Link") requires database migrations (ALTER TABLE).</a:t>
            </a:r>
          </a:p>
          <a:p>
            <a:pPr algn="just">
              <a:lnSpc>
                <a:spcPts val="3524"/>
              </a:lnSpc>
              <a:spcBef>
                <a:spcPct val="0"/>
              </a:spcBef>
            </a:pPr>
          </a:p>
          <a:p>
            <a:pPr algn="just">
              <a:lnSpc>
                <a:spcPts val="3646"/>
              </a:lnSpc>
              <a:spcBef>
                <a:spcPct val="0"/>
              </a:spcBef>
            </a:pPr>
            <a:r>
              <a:rPr lang="en-US" b="true" sz="303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NoSQL Approach (Document-Oriented):</a:t>
            </a:r>
          </a:p>
          <a:p>
            <a:pPr algn="l" marL="634193" indent="-317097" lvl="1">
              <a:lnSpc>
                <a:spcPts val="3524"/>
              </a:lnSpc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Unified Data: The entire recipe lives inside one single JSON-like document.</a:t>
            </a:r>
          </a:p>
          <a:p>
            <a:pPr algn="l" marL="634193" indent="-317097" lvl="1">
              <a:lnSpc>
                <a:spcPts val="3524"/>
              </a:lnSpc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Lightning-Fast Reads: A single findOne() query fetches everything in O(1) time.</a:t>
            </a:r>
          </a:p>
          <a:p>
            <a:pPr algn="l" marL="634193" indent="-317097" lvl="1">
              <a:lnSpc>
                <a:spcPts val="3524"/>
              </a:lnSpc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Schema Flexibility: Easily add new fields to new recipes without breaking existing records.</a:t>
            </a:r>
          </a:p>
          <a:p>
            <a:pPr algn="just">
              <a:lnSpc>
                <a:spcPts val="36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6995">
            <a:off x="-7026580" y="2143169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3826" y="1561550"/>
            <a:ext cx="9227189" cy="14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sz="5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FOUR-TIER APPLICATI</a:t>
            </a:r>
            <a:r>
              <a:rPr lang="en-US" sz="5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ON ARCHITEC</a:t>
            </a:r>
            <a:r>
              <a:rPr lang="en-US" sz="5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46658" y="585287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6"/>
                </a:lnTo>
                <a:lnTo>
                  <a:pt x="0" y="88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520899" y="334441"/>
            <a:ext cx="8838271" cy="9618118"/>
          </a:xfrm>
          <a:custGeom>
            <a:avLst/>
            <a:gdLst/>
            <a:ahLst/>
            <a:cxnLst/>
            <a:rect r="r" b="b" t="t" l="l"/>
            <a:pathLst>
              <a:path h="9618118" w="8838271">
                <a:moveTo>
                  <a:pt x="0" y="0"/>
                </a:moveTo>
                <a:lnTo>
                  <a:pt x="8838271" y="0"/>
                </a:lnTo>
                <a:lnTo>
                  <a:pt x="8838271" y="9618118"/>
                </a:lnTo>
                <a:lnTo>
                  <a:pt x="0" y="961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56558">
            <a:off x="14102619" y="6798809"/>
            <a:ext cx="3446038" cy="2938531"/>
          </a:xfrm>
          <a:custGeom>
            <a:avLst/>
            <a:gdLst/>
            <a:ahLst/>
            <a:cxnLst/>
            <a:rect r="r" b="b" t="t" l="l"/>
            <a:pathLst>
              <a:path h="2938531" w="3446038">
                <a:moveTo>
                  <a:pt x="0" y="0"/>
                </a:moveTo>
                <a:lnTo>
                  <a:pt x="3446038" y="0"/>
                </a:lnTo>
                <a:lnTo>
                  <a:pt x="3446038" y="2938531"/>
                </a:lnTo>
                <a:lnTo>
                  <a:pt x="0" y="2938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5447" y="3772274"/>
            <a:ext cx="12868250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205" indent="-351602" lvl="1">
              <a:lnSpc>
                <a:spcPts val="3908"/>
              </a:lnSpc>
              <a:spcBef>
                <a:spcPct val="0"/>
              </a:spcBef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Frontend Layer: Nginx (Serve</a:t>
            </a:r>
            <a:r>
              <a:rPr lang="en-US" sz="3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static UI &amp; acts as a Reverse Proxy).</a:t>
            </a:r>
          </a:p>
          <a:p>
            <a:pPr algn="l" marL="703205" indent="-351602" lvl="1">
              <a:lnSpc>
                <a:spcPts val="3908"/>
              </a:lnSpc>
              <a:spcBef>
                <a:spcPct val="0"/>
              </a:spcBef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Security Layer: Rate Limiting (100 req/15 min) &amp; Strict CORS Policy.</a:t>
            </a:r>
          </a:p>
          <a:p>
            <a:pPr algn="l" marL="703205" indent="-351602" lvl="1">
              <a:lnSpc>
                <a:spcPts val="3908"/>
              </a:lnSpc>
              <a:spcBef>
                <a:spcPct val="0"/>
              </a:spcBef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Backend API: Node.js / Express (Router ➔ Controller ➔ Mongoose ODM).</a:t>
            </a:r>
          </a:p>
          <a:p>
            <a:pPr algn="l" marL="703205" indent="-351602" lvl="1">
              <a:lnSpc>
                <a:spcPts val="3908"/>
              </a:lnSpc>
              <a:spcBef>
                <a:spcPct val="0"/>
              </a:spcBef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Database Layer: MongoDB (Containerized Collections &amp; Native Indexes).</a:t>
            </a:r>
          </a:p>
          <a:p>
            <a:pPr algn="l">
              <a:lnSpc>
                <a:spcPts val="4268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59844" y="2468789"/>
            <a:ext cx="2678361" cy="4114800"/>
          </a:xfrm>
          <a:custGeom>
            <a:avLst/>
            <a:gdLst/>
            <a:ahLst/>
            <a:cxnLst/>
            <a:rect r="r" b="b" t="t" l="l"/>
            <a:pathLst>
              <a:path h="4114800" w="2678361">
                <a:moveTo>
                  <a:pt x="0" y="0"/>
                </a:moveTo>
                <a:lnTo>
                  <a:pt x="2678361" y="0"/>
                </a:lnTo>
                <a:lnTo>
                  <a:pt x="26783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857" y="1615857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1719" y="2488245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6" y="0"/>
                </a:lnTo>
                <a:lnTo>
                  <a:pt x="823566" y="886826"/>
                </a:lnTo>
                <a:lnTo>
                  <a:pt x="0" y="88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797699">
            <a:off x="-3329162" y="-6044745"/>
            <a:ext cx="8301762" cy="9034271"/>
          </a:xfrm>
          <a:custGeom>
            <a:avLst/>
            <a:gdLst/>
            <a:ahLst/>
            <a:cxnLst/>
            <a:rect r="r" b="b" t="t" l="l"/>
            <a:pathLst>
              <a:path h="9034271" w="8301762">
                <a:moveTo>
                  <a:pt x="0" y="0"/>
                </a:moveTo>
                <a:lnTo>
                  <a:pt x="8301763" y="0"/>
                </a:lnTo>
                <a:lnTo>
                  <a:pt x="8301763" y="9034271"/>
                </a:lnTo>
                <a:lnTo>
                  <a:pt x="0" y="9034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7617">
            <a:off x="14819649" y="6070338"/>
            <a:ext cx="2643382" cy="3022578"/>
          </a:xfrm>
          <a:custGeom>
            <a:avLst/>
            <a:gdLst/>
            <a:ahLst/>
            <a:cxnLst/>
            <a:rect r="r" b="b" t="t" l="l"/>
            <a:pathLst>
              <a:path h="3022578" w="2643382">
                <a:moveTo>
                  <a:pt x="0" y="0"/>
                </a:moveTo>
                <a:lnTo>
                  <a:pt x="2643382" y="0"/>
                </a:lnTo>
                <a:lnTo>
                  <a:pt x="2643382" y="3022578"/>
                </a:lnTo>
                <a:lnTo>
                  <a:pt x="0" y="30225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0049" y="1768257"/>
            <a:ext cx="11680419" cy="71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2"/>
              </a:lnSpc>
            </a:pPr>
            <a:r>
              <a:rPr lang="en-US" sz="6210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THE DOCUMENT</a:t>
            </a:r>
            <a:r>
              <a:rPr lang="en-US" sz="6210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 SCHEMA IN AC</a:t>
            </a:r>
            <a:r>
              <a:rPr lang="en-US" sz="6210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TION</a:t>
            </a:r>
          </a:p>
          <a:p>
            <a:pPr algn="ctr">
              <a:lnSpc>
                <a:spcPts val="15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27334" y="2996056"/>
            <a:ext cx="14021591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3189" b="true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18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ingle-Collection Approach:</a:t>
            </a:r>
            <a:r>
              <a:rPr lang="en-US" sz="31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One Recipe = One Document.</a:t>
            </a:r>
          </a:p>
          <a:p>
            <a:pPr algn="l">
              <a:lnSpc>
                <a:spcPts val="3827"/>
              </a:lnSpc>
              <a:spcBef>
                <a:spcPct val="0"/>
              </a:spcBef>
            </a:pPr>
            <a:r>
              <a:rPr lang="en-US" b="true" sz="318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 Transformation Overhead: </a:t>
            </a:r>
            <a:r>
              <a:rPr lang="en-US" sz="31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is stored exactly as the UI needs it.</a:t>
            </a:r>
          </a:p>
          <a:p>
            <a:pPr algn="l">
              <a:lnSpc>
                <a:spcPts val="3827"/>
              </a:lnSpc>
              <a:spcBef>
                <a:spcPct val="0"/>
              </a:spcBef>
            </a:pPr>
            <a:r>
              <a:rPr lang="en-US" b="true" sz="318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Structure Example:</a:t>
            </a:r>
          </a:p>
          <a:p>
            <a:pPr algn="l">
              <a:lnSpc>
                <a:spcPts val="382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29492" y="5024665"/>
            <a:ext cx="11571982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"_id": "6a00a0115725c15e609e",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"name": "Classic Shakshuka",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"category": "Breakfast",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"prepTime": 10,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"difficulty": "Medium",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"ingredients": "4 eggs\n1 can tomatoes\n1 onion",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"instructions": "Sauté onion\nAdd tomatoes\nPoach eggs",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"createdAt": "2026-05-4T15:11:13Z"</a:t>
            </a:r>
          </a:p>
          <a:p>
            <a:pPr algn="l">
              <a:lnSpc>
                <a:spcPts val="3707"/>
              </a:lnSpc>
              <a:spcBef>
                <a:spcPct val="0"/>
              </a:spcBef>
            </a:pPr>
            <a:r>
              <a:rPr lang="en-US" sz="3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5706" y="2268912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6007" y="5604296"/>
            <a:ext cx="5343107" cy="5814557"/>
          </a:xfrm>
          <a:custGeom>
            <a:avLst/>
            <a:gdLst/>
            <a:ahLst/>
            <a:cxnLst/>
            <a:rect r="r" b="b" t="t" l="l"/>
            <a:pathLst>
              <a:path h="5814557" w="5343107">
                <a:moveTo>
                  <a:pt x="0" y="0"/>
                </a:moveTo>
                <a:lnTo>
                  <a:pt x="5343107" y="0"/>
                </a:lnTo>
                <a:lnTo>
                  <a:pt x="5343107" y="5814557"/>
                </a:lnTo>
                <a:lnTo>
                  <a:pt x="0" y="58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1783" y="585287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6"/>
                </a:lnTo>
                <a:lnTo>
                  <a:pt x="0" y="886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6263">
            <a:off x="15180214" y="6624313"/>
            <a:ext cx="2758451" cy="3227975"/>
          </a:xfrm>
          <a:custGeom>
            <a:avLst/>
            <a:gdLst/>
            <a:ahLst/>
            <a:cxnLst/>
            <a:rect r="r" b="b" t="t" l="l"/>
            <a:pathLst>
              <a:path h="3227975" w="2758451">
                <a:moveTo>
                  <a:pt x="0" y="0"/>
                </a:moveTo>
                <a:lnTo>
                  <a:pt x="2758451" y="0"/>
                </a:lnTo>
                <a:lnTo>
                  <a:pt x="2758451" y="3227975"/>
                </a:lnTo>
                <a:lnTo>
                  <a:pt x="0" y="3227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81100"/>
            <a:ext cx="14408360" cy="160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4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OPTI</a:t>
            </a:r>
            <a:r>
              <a:rPr lang="en-US" sz="64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MIZING SEARCH NATIVELY IN MONGODB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5759" y="2786556"/>
            <a:ext cx="14256082" cy="662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972" b="true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matters:</a:t>
            </a: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566"/>
              </a:lnSpc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built a powerful search engine without needing external tools like Elasticsearch.</a:t>
            </a:r>
          </a:p>
          <a:p>
            <a:pPr algn="l">
              <a:lnSpc>
                <a:spcPts val="3566"/>
              </a:lnSpc>
            </a:pP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We</a:t>
            </a:r>
            <a:r>
              <a:rPr lang="en-US" b="true" sz="297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ighted Text Index:</a:t>
            </a:r>
          </a:p>
          <a:p>
            <a:pPr algn="l" marL="641735" indent="-320868" lvl="1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Recipe Name (Weight: 10) ➔ Highest priority in search results.</a:t>
            </a:r>
          </a:p>
          <a:p>
            <a:pPr algn="l" marL="641735" indent="-320868" lvl="1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Ingredients (Weight: 5)</a:t>
            </a:r>
          </a:p>
          <a:p>
            <a:pPr algn="l" marL="641735" indent="-320868" lvl="1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Description (Weight: 1)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Category Index: 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Enables fast O(log n) execution for dropdown filtering.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Timestamp Index:</a:t>
            </a: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sz="29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Optimizes sorting for "Newest First" display.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6995">
            <a:off x="-7026580" y="2143169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4563" y="1799036"/>
            <a:ext cx="11780293" cy="78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62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RESTFUL CRUD &amp;</a:t>
            </a:r>
            <a:r>
              <a:rPr lang="en-US" sz="62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 DATA INTEGRITY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07741" y="8371475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993307" y="-2056326"/>
            <a:ext cx="8838271" cy="9618118"/>
          </a:xfrm>
          <a:custGeom>
            <a:avLst/>
            <a:gdLst/>
            <a:ahLst/>
            <a:cxnLst/>
            <a:rect r="r" b="b" t="t" l="l"/>
            <a:pathLst>
              <a:path h="9618118" w="8838271">
                <a:moveTo>
                  <a:pt x="0" y="0"/>
                </a:moveTo>
                <a:lnTo>
                  <a:pt x="8838271" y="0"/>
                </a:lnTo>
                <a:lnTo>
                  <a:pt x="8838271" y="9618118"/>
                </a:lnTo>
                <a:lnTo>
                  <a:pt x="0" y="961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83147">
            <a:off x="15690060" y="5305316"/>
            <a:ext cx="2266881" cy="4114800"/>
          </a:xfrm>
          <a:custGeom>
            <a:avLst/>
            <a:gdLst/>
            <a:ahLst/>
            <a:cxnLst/>
            <a:rect r="r" b="b" t="t" l="l"/>
            <a:pathLst>
              <a:path h="4114800" w="2266881">
                <a:moveTo>
                  <a:pt x="0" y="0"/>
                </a:moveTo>
                <a:lnTo>
                  <a:pt x="2266881" y="0"/>
                </a:lnTo>
                <a:lnTo>
                  <a:pt x="22668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4964" y="3185796"/>
            <a:ext cx="14130159" cy="499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5"/>
              </a:lnSpc>
              <a:spcBef>
                <a:spcPct val="0"/>
              </a:spcBef>
            </a:pPr>
            <a:r>
              <a:rPr lang="en-US" b="true" sz="327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</a:t>
            </a:r>
            <a:r>
              <a:rPr lang="en-US" b="true" sz="327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dpoints Built:</a:t>
            </a:r>
            <a:r>
              <a:rPr lang="en-US" b="true" sz="32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935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GET (List/Search), GET (Single), POST, PUT, DELETE.</a:t>
            </a:r>
          </a:p>
          <a:p>
            <a:pPr algn="just">
              <a:lnSpc>
                <a:spcPts val="3935"/>
              </a:lnSpc>
              <a:spcBef>
                <a:spcPct val="0"/>
              </a:spcBef>
            </a:pPr>
            <a:r>
              <a:rPr lang="en-US" b="true" sz="327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Defense Pipeline (Protecting the NoSQL DB):</a:t>
            </a:r>
          </a:p>
          <a:p>
            <a:pPr algn="just" marL="708057" indent="-354028" lvl="1">
              <a:lnSpc>
                <a:spcPts val="3935"/>
              </a:lnSpc>
              <a:spcBef>
                <a:spcPct val="0"/>
              </a:spcBef>
              <a:buAutoNum type="arabicPeriod" startAt="1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Input Sanitization: Whitelisting allowed fields (Ignoring unexpected data).</a:t>
            </a:r>
          </a:p>
          <a:p>
            <a:pPr algn="just" marL="708057" indent="-354028" lvl="1">
              <a:lnSpc>
                <a:spcPts val="3935"/>
              </a:lnSpc>
              <a:spcBef>
                <a:spcPct val="0"/>
              </a:spcBef>
              <a:buAutoNum type="arabicPeriod" startAt="1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NoSQL Injection Prevention: Applying escapeRegex() on user search queries to prevent malicious operators (like $gt).</a:t>
            </a:r>
          </a:p>
          <a:p>
            <a:pPr algn="just" marL="708057" indent="-354028" lvl="1">
              <a:lnSpc>
                <a:spcPts val="3935"/>
              </a:lnSpc>
              <a:spcBef>
                <a:spcPct val="0"/>
              </a:spcBef>
              <a:buAutoNum type="arabicPeriod" startAt="1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Schema Enforcement: Mongoose Validators ensure data types match before database insertion.</a:t>
            </a:r>
          </a:p>
          <a:p>
            <a:pPr algn="just">
              <a:lnSpc>
                <a:spcPts val="39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857" y="1615857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2919" y="2613968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797699">
            <a:off x="-3329162" y="-6044745"/>
            <a:ext cx="8301762" cy="9034271"/>
          </a:xfrm>
          <a:custGeom>
            <a:avLst/>
            <a:gdLst/>
            <a:ahLst/>
            <a:cxnLst/>
            <a:rect r="r" b="b" t="t" l="l"/>
            <a:pathLst>
              <a:path h="9034271" w="8301762">
                <a:moveTo>
                  <a:pt x="0" y="0"/>
                </a:moveTo>
                <a:lnTo>
                  <a:pt x="8301763" y="0"/>
                </a:lnTo>
                <a:lnTo>
                  <a:pt x="8301763" y="9034271"/>
                </a:lnTo>
                <a:lnTo>
                  <a:pt x="0" y="9034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2509" y="1799397"/>
            <a:ext cx="10254804" cy="125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1"/>
              </a:lnSpc>
            </a:pPr>
            <a:r>
              <a:rPr lang="en-US" sz="50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C</a:t>
            </a:r>
            <a:r>
              <a:rPr lang="en-US" sz="50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ONTAINERIZED STACK VIA DOCKER COMPOSE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1604" y="3790950"/>
            <a:ext cx="15596791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279" b="true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Isolated Environments:</a:t>
            </a:r>
          </a:p>
          <a:p>
            <a:pPr algn="l" marL="708075" indent="-354038" lvl="1">
              <a:lnSpc>
                <a:spcPts val="3935"/>
              </a:lnSpc>
              <a:spcBef>
                <a:spcPct val="0"/>
              </a:spcBef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recipevault-frontend (Nginx</a:t>
            </a: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Port 80)</a:t>
            </a:r>
          </a:p>
          <a:p>
            <a:pPr algn="l" marL="708075" indent="-354038" lvl="1">
              <a:lnSpc>
                <a:spcPts val="3935"/>
              </a:lnSpc>
              <a:spcBef>
                <a:spcPct val="0"/>
              </a:spcBef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recipevault-api (Node.js - Port 5001)</a:t>
            </a:r>
          </a:p>
          <a:p>
            <a:pPr algn="l" marL="708075" indent="-354038" lvl="1">
              <a:lnSpc>
                <a:spcPts val="3935"/>
              </a:lnSpc>
              <a:spcBef>
                <a:spcPct val="0"/>
              </a:spcBef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recipevault-mongo (MongoDB 6 - Port 27017)</a:t>
            </a:r>
          </a:p>
          <a:p>
            <a:pPr algn="l">
              <a:lnSpc>
                <a:spcPts val="3935"/>
              </a:lnSpc>
              <a:spcBef>
                <a:spcPct val="0"/>
              </a:spcBef>
            </a:pPr>
          </a:p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b="true" sz="327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 Execution: </a:t>
            </a: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entire system runs with one command: docker compose up --build.</a:t>
            </a:r>
          </a:p>
          <a:p>
            <a:pPr algn="l">
              <a:lnSpc>
                <a:spcPts val="3935"/>
              </a:lnSpc>
              <a:spcBef>
                <a:spcPct val="0"/>
              </a:spcBef>
            </a:pPr>
          </a:p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b="true" sz="327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Persistence: </a:t>
            </a:r>
            <a:r>
              <a:rPr lang="en-US" sz="32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Recipes are safely stored via the mongo_data Docker volume, surviving any container restarts.</a:t>
            </a:r>
          </a:p>
          <a:p>
            <a:pPr algn="l">
              <a:lnSpc>
                <a:spcPts val="40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5706" y="2268912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1887" y="-2105827"/>
            <a:ext cx="5343107" cy="5814557"/>
          </a:xfrm>
          <a:custGeom>
            <a:avLst/>
            <a:gdLst/>
            <a:ahLst/>
            <a:cxnLst/>
            <a:rect r="r" b="b" t="t" l="l"/>
            <a:pathLst>
              <a:path h="5814557" w="5343107">
                <a:moveTo>
                  <a:pt x="0" y="0"/>
                </a:moveTo>
                <a:lnTo>
                  <a:pt x="5343106" y="0"/>
                </a:lnTo>
                <a:lnTo>
                  <a:pt x="5343106" y="5814557"/>
                </a:lnTo>
                <a:lnTo>
                  <a:pt x="0" y="58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35" y="358039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155638" y="3271492"/>
            <a:ext cx="7967150" cy="4491481"/>
          </a:xfrm>
          <a:custGeom>
            <a:avLst/>
            <a:gdLst/>
            <a:ahLst/>
            <a:cxnLst/>
            <a:rect r="r" b="b" t="t" l="l"/>
            <a:pathLst>
              <a:path h="4491481" w="7967150">
                <a:moveTo>
                  <a:pt x="0" y="0"/>
                </a:moveTo>
                <a:lnTo>
                  <a:pt x="7967150" y="0"/>
                </a:lnTo>
                <a:lnTo>
                  <a:pt x="7967150" y="4491481"/>
                </a:lnTo>
                <a:lnTo>
                  <a:pt x="0" y="44914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0209" y="1397264"/>
            <a:ext cx="9944887" cy="87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3"/>
              </a:lnSpc>
            </a:pPr>
            <a:r>
              <a:rPr lang="en-US" sz="6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RECIPEVAULT</a:t>
            </a:r>
            <a:r>
              <a:rPr lang="en-US" sz="6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 UI</a:t>
            </a:r>
            <a:r>
              <a:rPr lang="en-US" sz="67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9" y="3406785"/>
            <a:ext cx="8555429" cy="479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  <a:spcBef>
                <a:spcPct val="0"/>
              </a:spcBef>
            </a:pPr>
            <a:r>
              <a:rPr lang="en-US" b="true" sz="262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Dynamic</a:t>
            </a:r>
            <a:r>
              <a:rPr lang="en-US" b="true" sz="262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Dashboard:</a:t>
            </a:r>
            <a:r>
              <a:rPr lang="en-US" sz="26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Real-time search functionality powered by MongoDB Weighted Text Indexes (Name: 10, Ingredients: 5).</a:t>
            </a:r>
          </a:p>
          <a:p>
            <a:pPr algn="l">
              <a:lnSpc>
                <a:spcPts val="3147"/>
              </a:lnSpc>
              <a:spcBef>
                <a:spcPct val="0"/>
              </a:spcBef>
            </a:pPr>
            <a:r>
              <a:rPr lang="en-US" b="true" sz="262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Filtering:</a:t>
            </a:r>
            <a:r>
              <a:rPr lang="en-US" sz="26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Instant O(log n) execution for category filtering and sorting by date or difficulty.</a:t>
            </a:r>
          </a:p>
          <a:p>
            <a:pPr algn="l">
              <a:lnSpc>
                <a:spcPts val="3147"/>
              </a:lnSpc>
              <a:spcBef>
                <a:spcPct val="0"/>
              </a:spcBef>
            </a:pPr>
            <a:r>
              <a:rPr lang="en-US" b="true" sz="262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Modals: </a:t>
            </a:r>
            <a:r>
              <a:rPr lang="en-US" sz="26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Responsive "Add/Edit" forms with immediate schema-level validation via Mongoose.</a:t>
            </a:r>
          </a:p>
          <a:p>
            <a:pPr algn="l">
              <a:lnSpc>
                <a:spcPts val="3147"/>
              </a:lnSpc>
              <a:spcBef>
                <a:spcPct val="0"/>
              </a:spcBef>
            </a:pPr>
            <a:r>
              <a:rPr lang="en-US" b="true" sz="2622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Responsive Experience: </a:t>
            </a:r>
            <a:r>
              <a:rPr lang="en-US" sz="26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seamless 3-tier integration between the Node.js API and a clean, user-centric frontend.</a:t>
            </a:r>
          </a:p>
          <a:p>
            <a:pPr algn="l">
              <a:lnSpc>
                <a:spcPts val="31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6995">
            <a:off x="-7026580" y="2143169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4563" y="1799036"/>
            <a:ext cx="13246553" cy="83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8"/>
              </a:lnSpc>
            </a:pPr>
            <a:r>
              <a:rPr lang="en-US" sz="6508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OBSTACLES &amp; HOW WE SOLVED THEM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79334" y="1028700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993307" y="-2056326"/>
            <a:ext cx="8838271" cy="9618118"/>
          </a:xfrm>
          <a:custGeom>
            <a:avLst/>
            <a:gdLst/>
            <a:ahLst/>
            <a:cxnLst/>
            <a:rect r="r" b="b" t="t" l="l"/>
            <a:pathLst>
              <a:path h="9618118" w="8838271">
                <a:moveTo>
                  <a:pt x="0" y="0"/>
                </a:moveTo>
                <a:lnTo>
                  <a:pt x="8838271" y="0"/>
                </a:lnTo>
                <a:lnTo>
                  <a:pt x="8838271" y="9618118"/>
                </a:lnTo>
                <a:lnTo>
                  <a:pt x="0" y="961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99532" y="3185796"/>
            <a:ext cx="11553452" cy="518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1: 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Preventing N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oSQL injection attacks via the search bar.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 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Built custom RegEx escaping utilities and enforced strict category whitelists.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</a:p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2: 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Networking between isolated Docker containers.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Configured Docker named bridge networks so containers communicate securely via service names.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</a:p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3: 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Mapping complex recipe arrays from UI forms to the database.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  <a:r>
              <a:rPr lang="en-US" b="true" sz="2629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26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Simplified inputs into newline-separated strings, matching the NoSQL document naturally.</a:t>
            </a:r>
          </a:p>
          <a:p>
            <a:pPr algn="just">
              <a:lnSpc>
                <a:spcPts val="315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384645">
            <a:off x="14985999" y="5905084"/>
            <a:ext cx="2482855" cy="3890514"/>
          </a:xfrm>
          <a:custGeom>
            <a:avLst/>
            <a:gdLst/>
            <a:ahLst/>
            <a:cxnLst/>
            <a:rect r="r" b="b" t="t" l="l"/>
            <a:pathLst>
              <a:path h="3890514" w="2482855">
                <a:moveTo>
                  <a:pt x="0" y="0"/>
                </a:moveTo>
                <a:lnTo>
                  <a:pt x="2482855" y="0"/>
                </a:lnTo>
                <a:lnTo>
                  <a:pt x="2482855" y="3890514"/>
                </a:lnTo>
                <a:lnTo>
                  <a:pt x="0" y="3890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857" y="1615857"/>
            <a:ext cx="17342286" cy="8671143"/>
          </a:xfrm>
          <a:custGeom>
            <a:avLst/>
            <a:gdLst/>
            <a:ahLst/>
            <a:cxnLst/>
            <a:rect r="r" b="b" t="t" l="l"/>
            <a:pathLst>
              <a:path h="8671143" w="17342286">
                <a:moveTo>
                  <a:pt x="0" y="0"/>
                </a:moveTo>
                <a:lnTo>
                  <a:pt x="17342286" y="0"/>
                </a:lnTo>
                <a:lnTo>
                  <a:pt x="17342286" y="8671143"/>
                </a:lnTo>
                <a:lnTo>
                  <a:pt x="0" y="86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1637" y="1172444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6"/>
                </a:lnTo>
                <a:lnTo>
                  <a:pt x="0" y="88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797699">
            <a:off x="-3329162" y="-6044745"/>
            <a:ext cx="8301762" cy="9034271"/>
          </a:xfrm>
          <a:custGeom>
            <a:avLst/>
            <a:gdLst/>
            <a:ahLst/>
            <a:cxnLst/>
            <a:rect r="r" b="b" t="t" l="l"/>
            <a:pathLst>
              <a:path h="9034271" w="8301762">
                <a:moveTo>
                  <a:pt x="0" y="0"/>
                </a:moveTo>
                <a:lnTo>
                  <a:pt x="8301763" y="0"/>
                </a:lnTo>
                <a:lnTo>
                  <a:pt x="8301763" y="9034271"/>
                </a:lnTo>
                <a:lnTo>
                  <a:pt x="0" y="9034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95013" y="2173570"/>
            <a:ext cx="10254804" cy="66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7"/>
              </a:lnSpc>
            </a:pPr>
            <a:r>
              <a:rPr lang="en-US" sz="51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K</a:t>
            </a:r>
            <a:r>
              <a:rPr lang="en-US" sz="5122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EY TAKEAWAYS FROM RECIPEVAULT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2822" y="3701522"/>
            <a:ext cx="13159776" cy="424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b="true" sz="280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Fit is Crucial: </a:t>
            </a:r>
            <a:r>
              <a:rPr lang="en-US" sz="28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 databases (Mong</a:t>
            </a:r>
            <a:r>
              <a:rPr lang="en-US" sz="28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oDB) are the perfect architectural match for inherently self-contained data (like recipes).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b="true" sz="280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</a:t>
            </a:r>
            <a:r>
              <a:rPr lang="en-US" b="true" sz="280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Requires Application-Level Security: </a:t>
            </a:r>
            <a:r>
              <a:rPr lang="en-US" sz="28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Lacking rigid schemas means validation MUST happen heavily at the API level (Router &amp; ODM).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b="true" sz="2804">
                <a:solidFill>
                  <a:srgbClr val="4265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Native Features are Powerful: </a:t>
            </a:r>
            <a:r>
              <a:rPr lang="en-US" sz="28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MongoDB's built-in text indexing is robust enough to handle complex search features, proving you don't always need complex external plugins.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26806">
            <a:off x="14833735" y="6947058"/>
            <a:ext cx="2801136" cy="2577046"/>
          </a:xfrm>
          <a:custGeom>
            <a:avLst/>
            <a:gdLst/>
            <a:ahLst/>
            <a:cxnLst/>
            <a:rect r="r" b="b" t="t" l="l"/>
            <a:pathLst>
              <a:path h="2577046" w="2801136">
                <a:moveTo>
                  <a:pt x="0" y="0"/>
                </a:moveTo>
                <a:lnTo>
                  <a:pt x="2801137" y="0"/>
                </a:lnTo>
                <a:lnTo>
                  <a:pt x="2801137" y="2577046"/>
                </a:lnTo>
                <a:lnTo>
                  <a:pt x="0" y="25770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8272" y="5527478"/>
            <a:ext cx="5142294" cy="5142294"/>
          </a:xfrm>
          <a:custGeom>
            <a:avLst/>
            <a:gdLst/>
            <a:ahLst/>
            <a:cxnLst/>
            <a:rect r="r" b="b" t="t" l="l"/>
            <a:pathLst>
              <a:path h="5142294" w="5142294">
                <a:moveTo>
                  <a:pt x="0" y="0"/>
                </a:moveTo>
                <a:lnTo>
                  <a:pt x="5142294" y="0"/>
                </a:lnTo>
                <a:lnTo>
                  <a:pt x="5142294" y="5142294"/>
                </a:lnTo>
                <a:lnTo>
                  <a:pt x="0" y="5142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52431" y="-571908"/>
            <a:ext cx="5142294" cy="5142294"/>
          </a:xfrm>
          <a:custGeom>
            <a:avLst/>
            <a:gdLst/>
            <a:ahLst/>
            <a:cxnLst/>
            <a:rect r="r" b="b" t="t" l="l"/>
            <a:pathLst>
              <a:path h="5142294" w="5142294">
                <a:moveTo>
                  <a:pt x="5142293" y="5142294"/>
                </a:moveTo>
                <a:lnTo>
                  <a:pt x="0" y="5142294"/>
                </a:lnTo>
                <a:lnTo>
                  <a:pt x="0" y="0"/>
                </a:lnTo>
                <a:lnTo>
                  <a:pt x="5142293" y="0"/>
                </a:lnTo>
                <a:lnTo>
                  <a:pt x="5142293" y="5142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30686" y="-1244172"/>
            <a:ext cx="5343107" cy="5814557"/>
          </a:xfrm>
          <a:custGeom>
            <a:avLst/>
            <a:gdLst/>
            <a:ahLst/>
            <a:cxnLst/>
            <a:rect r="r" b="b" t="t" l="l"/>
            <a:pathLst>
              <a:path h="5814557" w="5343107">
                <a:moveTo>
                  <a:pt x="0" y="0"/>
                </a:moveTo>
                <a:lnTo>
                  <a:pt x="5343107" y="0"/>
                </a:lnTo>
                <a:lnTo>
                  <a:pt x="5343107" y="5814558"/>
                </a:lnTo>
                <a:lnTo>
                  <a:pt x="0" y="581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96974" y="4268694"/>
            <a:ext cx="13407366" cy="214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2"/>
              </a:lnSpc>
            </a:pPr>
            <a:r>
              <a:rPr lang="en-US" sz="16585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TH</a:t>
            </a:r>
            <a:r>
              <a:rPr lang="en-US" sz="16585">
                <a:solidFill>
                  <a:srgbClr val="5E83BE"/>
                </a:solidFill>
                <a:latin typeface="Freckle Face"/>
                <a:ea typeface="Freckle Face"/>
                <a:cs typeface="Freckle Face"/>
                <a:sym typeface="Freckle Face"/>
              </a:rPr>
              <a:t>ANK YOU!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10933" y="6390561"/>
            <a:ext cx="5849025" cy="6365116"/>
          </a:xfrm>
          <a:custGeom>
            <a:avLst/>
            <a:gdLst/>
            <a:ahLst/>
            <a:cxnLst/>
            <a:rect r="r" b="b" t="t" l="l"/>
            <a:pathLst>
              <a:path h="6365116" w="5849025">
                <a:moveTo>
                  <a:pt x="0" y="0"/>
                </a:moveTo>
                <a:lnTo>
                  <a:pt x="5849025" y="0"/>
                </a:lnTo>
                <a:lnTo>
                  <a:pt x="5849025" y="6365115"/>
                </a:lnTo>
                <a:lnTo>
                  <a:pt x="0" y="6365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3055" y="-878308"/>
            <a:ext cx="4472728" cy="3814017"/>
          </a:xfrm>
          <a:custGeom>
            <a:avLst/>
            <a:gdLst/>
            <a:ahLst/>
            <a:cxnLst/>
            <a:rect r="r" b="b" t="t" l="l"/>
            <a:pathLst>
              <a:path h="3814017" w="4472728">
                <a:moveTo>
                  <a:pt x="0" y="0"/>
                </a:moveTo>
                <a:lnTo>
                  <a:pt x="4472728" y="0"/>
                </a:lnTo>
                <a:lnTo>
                  <a:pt x="4472728" y="3814016"/>
                </a:lnTo>
                <a:lnTo>
                  <a:pt x="0" y="3814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07672" y="1028700"/>
            <a:ext cx="823565" cy="886825"/>
          </a:xfrm>
          <a:custGeom>
            <a:avLst/>
            <a:gdLst/>
            <a:ahLst/>
            <a:cxnLst/>
            <a:rect r="r" b="b" t="t" l="l"/>
            <a:pathLst>
              <a:path h="886825" w="823565">
                <a:moveTo>
                  <a:pt x="0" y="0"/>
                </a:moveTo>
                <a:lnTo>
                  <a:pt x="823565" y="0"/>
                </a:lnTo>
                <a:lnTo>
                  <a:pt x="823565" y="886825"/>
                </a:lnTo>
                <a:lnTo>
                  <a:pt x="0" y="886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00657" y="8627696"/>
            <a:ext cx="664218" cy="715239"/>
          </a:xfrm>
          <a:custGeom>
            <a:avLst/>
            <a:gdLst/>
            <a:ahLst/>
            <a:cxnLst/>
            <a:rect r="r" b="b" t="t" l="l"/>
            <a:pathLst>
              <a:path h="715239" w="664218">
                <a:moveTo>
                  <a:pt x="0" y="0"/>
                </a:moveTo>
                <a:lnTo>
                  <a:pt x="664218" y="0"/>
                </a:lnTo>
                <a:lnTo>
                  <a:pt x="664218" y="715239"/>
                </a:lnTo>
                <a:lnTo>
                  <a:pt x="0" y="715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612421" y="2935708"/>
            <a:ext cx="664218" cy="715239"/>
          </a:xfrm>
          <a:custGeom>
            <a:avLst/>
            <a:gdLst/>
            <a:ahLst/>
            <a:cxnLst/>
            <a:rect r="r" b="b" t="t" l="l"/>
            <a:pathLst>
              <a:path h="715239" w="664218">
                <a:moveTo>
                  <a:pt x="0" y="0"/>
                </a:moveTo>
                <a:lnTo>
                  <a:pt x="664218" y="0"/>
                </a:lnTo>
                <a:lnTo>
                  <a:pt x="664218" y="715239"/>
                </a:lnTo>
                <a:lnTo>
                  <a:pt x="0" y="715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226776">
            <a:off x="14330727" y="7801909"/>
            <a:ext cx="4185340" cy="1811111"/>
          </a:xfrm>
          <a:custGeom>
            <a:avLst/>
            <a:gdLst/>
            <a:ahLst/>
            <a:cxnLst/>
            <a:rect r="r" b="b" t="t" l="l"/>
            <a:pathLst>
              <a:path h="1811111" w="4185340">
                <a:moveTo>
                  <a:pt x="0" y="0"/>
                </a:moveTo>
                <a:lnTo>
                  <a:pt x="4185340" y="0"/>
                </a:lnTo>
                <a:lnTo>
                  <a:pt x="4185340" y="1811111"/>
                </a:lnTo>
                <a:lnTo>
                  <a:pt x="0" y="1811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84645">
            <a:off x="-472209" y="143932"/>
            <a:ext cx="2826153" cy="4428445"/>
          </a:xfrm>
          <a:custGeom>
            <a:avLst/>
            <a:gdLst/>
            <a:ahLst/>
            <a:cxnLst/>
            <a:rect r="r" b="b" t="t" l="l"/>
            <a:pathLst>
              <a:path h="4428445" w="2826153">
                <a:moveTo>
                  <a:pt x="0" y="0"/>
                </a:moveTo>
                <a:lnTo>
                  <a:pt x="2826153" y="0"/>
                </a:lnTo>
                <a:lnTo>
                  <a:pt x="2826153" y="4428446"/>
                </a:lnTo>
                <a:lnTo>
                  <a:pt x="0" y="4428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135991">
            <a:off x="318561" y="6041225"/>
            <a:ext cx="1803031" cy="4114800"/>
          </a:xfrm>
          <a:custGeom>
            <a:avLst/>
            <a:gdLst/>
            <a:ahLst/>
            <a:cxnLst/>
            <a:rect r="r" b="b" t="t" l="l"/>
            <a:pathLst>
              <a:path h="4114800" w="1803031">
                <a:moveTo>
                  <a:pt x="0" y="0"/>
                </a:moveTo>
                <a:lnTo>
                  <a:pt x="1803030" y="0"/>
                </a:lnTo>
                <a:lnTo>
                  <a:pt x="1803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DAHJRmmq8sI</dc:identifier>
  <dcterms:modified xsi:type="dcterms:W3CDTF">2011-08-01T06:04:30Z</dcterms:modified>
  <cp:revision>1</cp:revision>
  <dc:title>Yellow Blue and Pink Illustrated Kitchen Presentation</dc:title>
</cp:coreProperties>
</file>